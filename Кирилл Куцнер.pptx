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barra Real Nova Bold" charset="1" panose="00000800000000000000"/>
      <p:regular r:id="rId22"/>
    </p:embeddedFont>
    <p:embeddedFont>
      <p:font typeface="Ibarra Real Nova" charset="1" panose="00000500000000000000"/>
      <p:regular r:id="rId23"/>
    </p:embeddedFont>
    <p:embeddedFont>
      <p:font typeface="Carlito" charset="1" panose="020F0502020204030204"/>
      <p:regular r:id="rId24"/>
    </p:embeddedFont>
    <p:embeddedFont>
      <p:font typeface="Carlito Bold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2" Target="../media/image35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C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7708" y="939917"/>
            <a:ext cx="3795409" cy="3286653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4926" t="0" r="-149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891600" y="2643590"/>
            <a:ext cx="3795409" cy="3286653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4865" t="0" r="-1486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926394" y="6043323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3" y="0"/>
                </a:lnTo>
                <a:lnTo>
                  <a:pt x="3797603" y="3286653"/>
                </a:lnTo>
                <a:lnTo>
                  <a:pt x="0" y="3286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73596" y="4333321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4" y="0"/>
                </a:lnTo>
                <a:lnTo>
                  <a:pt x="3797604" y="3286654"/>
                </a:lnTo>
                <a:lnTo>
                  <a:pt x="0" y="3286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00551" y="2643590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4" y="0"/>
                </a:lnTo>
                <a:lnTo>
                  <a:pt x="3797604" y="3286653"/>
                </a:lnTo>
                <a:lnTo>
                  <a:pt x="0" y="3286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10650" y="-724974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3" y="0"/>
                </a:lnTo>
                <a:lnTo>
                  <a:pt x="3797603" y="3286654"/>
                </a:lnTo>
                <a:lnTo>
                  <a:pt x="0" y="3286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3413846"/>
            <a:ext cx="1613626" cy="1625448"/>
          </a:xfrm>
          <a:custGeom>
            <a:avLst/>
            <a:gdLst/>
            <a:ahLst/>
            <a:cxnLst/>
            <a:rect r="r" b="b" t="t" l="l"/>
            <a:pathLst>
              <a:path h="1625448" w="1613626">
                <a:moveTo>
                  <a:pt x="0" y="0"/>
                </a:moveTo>
                <a:lnTo>
                  <a:pt x="1613626" y="0"/>
                </a:lnTo>
                <a:lnTo>
                  <a:pt x="1613626" y="1625448"/>
                </a:lnTo>
                <a:lnTo>
                  <a:pt x="0" y="16254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5960148"/>
            <a:ext cx="8467507" cy="329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0"/>
              </a:lnSpc>
            </a:pPr>
            <a:r>
              <a:rPr lang="en-US" sz="14396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ExtendedTheory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49762" y="258790"/>
            <a:ext cx="3150868" cy="212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6"/>
              </a:lnSpc>
            </a:pPr>
            <a:r>
              <a:rPr lang="en-US" sz="484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Кирилл Куцнер</a:t>
            </a:r>
          </a:p>
          <a:p>
            <a:pPr algn="ctr">
              <a:lnSpc>
                <a:spcPts val="5566"/>
              </a:lnSpc>
            </a:pPr>
            <a:r>
              <a:rPr lang="en-US" b="true" sz="4840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13 ТИС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1808360" y="2457939"/>
            <a:ext cx="837359" cy="724696"/>
          </a:xfrm>
          <a:custGeom>
            <a:avLst/>
            <a:gdLst/>
            <a:ahLst/>
            <a:cxnLst/>
            <a:rect r="r" b="b" t="t" l="l"/>
            <a:pathLst>
              <a:path h="724696" w="837359">
                <a:moveTo>
                  <a:pt x="0" y="0"/>
                </a:moveTo>
                <a:lnTo>
                  <a:pt x="837359" y="0"/>
                </a:lnTo>
                <a:lnTo>
                  <a:pt x="837359" y="724696"/>
                </a:lnTo>
                <a:lnTo>
                  <a:pt x="0" y="724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1424015" y="2438902"/>
            <a:ext cx="881353" cy="762771"/>
          </a:xfrm>
          <a:custGeom>
            <a:avLst/>
            <a:gdLst/>
            <a:ahLst/>
            <a:cxnLst/>
            <a:rect r="r" b="b" t="t" l="l"/>
            <a:pathLst>
              <a:path h="762771" w="881353">
                <a:moveTo>
                  <a:pt x="0" y="0"/>
                </a:moveTo>
                <a:lnTo>
                  <a:pt x="881353" y="0"/>
                </a:lnTo>
                <a:lnTo>
                  <a:pt x="881353" y="762771"/>
                </a:lnTo>
                <a:lnTo>
                  <a:pt x="0" y="7627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33686" y="4113353"/>
            <a:ext cx="71746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2.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3038" y="7196548"/>
            <a:ext cx="71746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3.</a:t>
            </a:r>
          </a:p>
        </p:txBody>
      </p:sp>
      <p:sp>
        <p:nvSpPr>
          <p:cNvPr name="AutoShape 4" id="4"/>
          <p:cNvSpPr/>
          <p:nvPr/>
        </p:nvSpPr>
        <p:spPr>
          <a:xfrm rot="-5400000">
            <a:off x="2919901" y="4392769"/>
            <a:ext cx="676464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5400000">
            <a:off x="10460549" y="4354241"/>
            <a:ext cx="676464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2919901" y="7437436"/>
            <a:ext cx="676464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5400000">
            <a:off x="10460549" y="7437436"/>
            <a:ext cx="676464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-5400000">
            <a:off x="4135085" y="1099428"/>
            <a:ext cx="2310251" cy="1761851"/>
            <a:chOff x="0" y="0"/>
            <a:chExt cx="2771140" cy="2113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1140" cy="2113336"/>
            </a:xfrm>
            <a:custGeom>
              <a:avLst/>
              <a:gdLst/>
              <a:ahLst/>
              <a:cxnLst/>
              <a:rect r="r" b="b" t="t" l="l"/>
              <a:pathLst>
                <a:path h="2113336" w="2771140">
                  <a:moveTo>
                    <a:pt x="0" y="0"/>
                  </a:moveTo>
                  <a:lnTo>
                    <a:pt x="0" y="1210366"/>
                  </a:lnTo>
                  <a:lnTo>
                    <a:pt x="1384300" y="2113336"/>
                  </a:lnTo>
                  <a:lnTo>
                    <a:pt x="2771140" y="1210366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1211238" y="-1349049"/>
            <a:ext cx="2717196" cy="6658804"/>
            <a:chOff x="0" y="0"/>
            <a:chExt cx="2771140" cy="679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1140" cy="6791000"/>
            </a:xfrm>
            <a:custGeom>
              <a:avLst/>
              <a:gdLst/>
              <a:ahLst/>
              <a:cxnLst/>
              <a:rect r="r" b="b" t="t" l="l"/>
              <a:pathLst>
                <a:path h="6791000" w="2771140">
                  <a:moveTo>
                    <a:pt x="0" y="0"/>
                  </a:moveTo>
                  <a:lnTo>
                    <a:pt x="0" y="5888030"/>
                  </a:lnTo>
                  <a:lnTo>
                    <a:pt x="1384300" y="6791000"/>
                  </a:lnTo>
                  <a:lnTo>
                    <a:pt x="2771140" y="588803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EDC20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49917" y="941176"/>
            <a:ext cx="4603713" cy="209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Почему данная тема актуальна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44163" y="4131784"/>
            <a:ext cx="5599837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Онлайн обучение в пике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84811" y="4093256"/>
            <a:ext cx="5372493" cy="184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Отсутсвие психологического давления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44163" y="7176451"/>
            <a:ext cx="5599837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Финансово граммотно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84811" y="7176451"/>
            <a:ext cx="5372493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Комфортная занятость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93038" y="4151881"/>
            <a:ext cx="71746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1.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33686" y="7196548"/>
            <a:ext cx="71746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4.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67824" y="7159718"/>
            <a:ext cx="11099990" cy="209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464" indent="-318232" lvl="1">
              <a:lnSpc>
                <a:spcPts val="4127"/>
              </a:lnSpc>
              <a:buAutoNum type="arabicPeriod" startAt="1"/>
            </a:pPr>
            <a:r>
              <a:rPr lang="en-US" sz="2947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Сайт минималистичен и использует стилистические приемы, понятные пользователям.</a:t>
            </a:r>
          </a:p>
          <a:p>
            <a:pPr algn="l" marL="636464" indent="-318232" lvl="1">
              <a:lnSpc>
                <a:spcPts val="4127"/>
              </a:lnSpc>
              <a:buAutoNum type="arabicPeriod" startAt="1"/>
            </a:pPr>
            <a:r>
              <a:rPr lang="en-US" sz="2947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Запись проходит через заполнение формы, экономия времени.</a:t>
            </a:r>
          </a:p>
          <a:p>
            <a:pPr algn="l" marL="636464" indent="-318232" lvl="1">
              <a:lnSpc>
                <a:spcPts val="4127"/>
              </a:lnSpc>
              <a:buAutoNum type="arabicPeriod" startAt="1"/>
            </a:pPr>
            <a:r>
              <a:rPr lang="en-US" sz="2947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Всё описано и подается пользователю сразу.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84738">
            <a:off x="13253747" y="959248"/>
            <a:ext cx="3521511" cy="3047707"/>
          </a:xfrm>
          <a:custGeom>
            <a:avLst/>
            <a:gdLst/>
            <a:ahLst/>
            <a:cxnLst/>
            <a:rect r="r" b="b" t="t" l="l"/>
            <a:pathLst>
              <a:path h="3047707" w="3521511">
                <a:moveTo>
                  <a:pt x="0" y="0"/>
                </a:moveTo>
                <a:lnTo>
                  <a:pt x="3521511" y="0"/>
                </a:lnTo>
                <a:lnTo>
                  <a:pt x="3521511" y="3047707"/>
                </a:lnTo>
                <a:lnTo>
                  <a:pt x="0" y="3047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86722">
            <a:off x="-190920" y="9061329"/>
            <a:ext cx="3521511" cy="3047707"/>
          </a:xfrm>
          <a:custGeom>
            <a:avLst/>
            <a:gdLst/>
            <a:ahLst/>
            <a:cxnLst/>
            <a:rect r="r" b="b" t="t" l="l"/>
            <a:pathLst>
              <a:path h="3047707" w="3521511">
                <a:moveTo>
                  <a:pt x="0" y="0"/>
                </a:moveTo>
                <a:lnTo>
                  <a:pt x="3521511" y="0"/>
                </a:lnTo>
                <a:lnTo>
                  <a:pt x="3521511" y="3047707"/>
                </a:lnTo>
                <a:lnTo>
                  <a:pt x="0" y="3047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84738">
            <a:off x="16338049" y="214770"/>
            <a:ext cx="3521511" cy="3047707"/>
          </a:xfrm>
          <a:custGeom>
            <a:avLst/>
            <a:gdLst/>
            <a:ahLst/>
            <a:cxnLst/>
            <a:rect r="r" b="b" t="t" l="l"/>
            <a:pathLst>
              <a:path h="3047707" w="3521511">
                <a:moveTo>
                  <a:pt x="0" y="0"/>
                </a:moveTo>
                <a:lnTo>
                  <a:pt x="3521511" y="0"/>
                </a:lnTo>
                <a:lnTo>
                  <a:pt x="3521511" y="3047708"/>
                </a:lnTo>
                <a:lnTo>
                  <a:pt x="0" y="3047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815261">
            <a:off x="11050797" y="-1320628"/>
            <a:ext cx="3528805" cy="3054021"/>
          </a:xfrm>
          <a:custGeom>
            <a:avLst/>
            <a:gdLst/>
            <a:ahLst/>
            <a:cxnLst/>
            <a:rect r="r" b="b" t="t" l="l"/>
            <a:pathLst>
              <a:path h="3054021" w="3528805">
                <a:moveTo>
                  <a:pt x="0" y="0"/>
                </a:moveTo>
                <a:lnTo>
                  <a:pt x="3528805" y="0"/>
                </a:lnTo>
                <a:lnTo>
                  <a:pt x="3528805" y="3054021"/>
                </a:lnTo>
                <a:lnTo>
                  <a:pt x="0" y="3054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815261">
            <a:off x="15443593" y="3264123"/>
            <a:ext cx="3528805" cy="3054021"/>
          </a:xfrm>
          <a:custGeom>
            <a:avLst/>
            <a:gdLst/>
            <a:ahLst/>
            <a:cxnLst/>
            <a:rect r="r" b="b" t="t" l="l"/>
            <a:pathLst>
              <a:path h="3054021" w="3528805">
                <a:moveTo>
                  <a:pt x="0" y="0"/>
                </a:moveTo>
                <a:lnTo>
                  <a:pt x="3528805" y="0"/>
                </a:lnTo>
                <a:lnTo>
                  <a:pt x="3528805" y="3054021"/>
                </a:lnTo>
                <a:lnTo>
                  <a:pt x="0" y="30540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13277">
            <a:off x="2685321" y="7663042"/>
            <a:ext cx="3528805" cy="3054021"/>
          </a:xfrm>
          <a:custGeom>
            <a:avLst/>
            <a:gdLst/>
            <a:ahLst/>
            <a:cxnLst/>
            <a:rect r="r" b="b" t="t" l="l"/>
            <a:pathLst>
              <a:path h="3054021" w="3528805">
                <a:moveTo>
                  <a:pt x="0" y="0"/>
                </a:moveTo>
                <a:lnTo>
                  <a:pt x="3528805" y="0"/>
                </a:lnTo>
                <a:lnTo>
                  <a:pt x="3528805" y="3054020"/>
                </a:lnTo>
                <a:lnTo>
                  <a:pt x="0" y="30540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91120" y="4249057"/>
            <a:ext cx="9292913" cy="1788886"/>
          </a:xfrm>
          <a:custGeom>
            <a:avLst/>
            <a:gdLst/>
            <a:ahLst/>
            <a:cxnLst/>
            <a:rect r="r" b="b" t="t" l="l"/>
            <a:pathLst>
              <a:path h="1788886" w="9292913">
                <a:moveTo>
                  <a:pt x="0" y="0"/>
                </a:moveTo>
                <a:lnTo>
                  <a:pt x="9292913" y="0"/>
                </a:lnTo>
                <a:lnTo>
                  <a:pt x="9292913" y="1788886"/>
                </a:lnTo>
                <a:lnTo>
                  <a:pt x="0" y="17888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8565" y="481491"/>
            <a:ext cx="8955291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Почему ExtendedTheory это удобно???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C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493541" y="3500173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3" y="0"/>
                </a:lnTo>
                <a:lnTo>
                  <a:pt x="3797603" y="3286654"/>
                </a:lnTo>
                <a:lnTo>
                  <a:pt x="0" y="328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6534" y="3661833"/>
            <a:ext cx="7401806" cy="27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4"/>
              </a:lnSpc>
            </a:pPr>
            <a:r>
              <a:rPr lang="en-US" sz="9499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Главная страница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91112" y="4351866"/>
            <a:ext cx="2961064" cy="139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4"/>
              </a:lnSpc>
            </a:pPr>
            <a:r>
              <a:rPr lang="en-US" b="true" sz="9499">
                <a:solidFill>
                  <a:srgbClr val="EDC20D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01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4005271" y="363087"/>
            <a:ext cx="5658447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3586931" y="-390978"/>
            <a:ext cx="5658447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40715" y="3623580"/>
            <a:ext cx="0" cy="676464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4135085" y="1099428"/>
            <a:ext cx="2310251" cy="1761851"/>
            <a:chOff x="0" y="0"/>
            <a:chExt cx="2771140" cy="21133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1140" cy="2113336"/>
            </a:xfrm>
            <a:custGeom>
              <a:avLst/>
              <a:gdLst/>
              <a:ahLst/>
              <a:cxnLst/>
              <a:rect r="r" b="b" t="t" l="l"/>
              <a:pathLst>
                <a:path h="2113336" w="2771140">
                  <a:moveTo>
                    <a:pt x="0" y="0"/>
                  </a:moveTo>
                  <a:lnTo>
                    <a:pt x="0" y="1210366"/>
                  </a:lnTo>
                  <a:lnTo>
                    <a:pt x="1384300" y="2113336"/>
                  </a:lnTo>
                  <a:lnTo>
                    <a:pt x="2771140" y="1210366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211238" y="-1349049"/>
            <a:ext cx="2717196" cy="6658804"/>
            <a:chOff x="0" y="0"/>
            <a:chExt cx="2771140" cy="679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1140" cy="6791000"/>
            </a:xfrm>
            <a:custGeom>
              <a:avLst/>
              <a:gdLst/>
              <a:ahLst/>
              <a:cxnLst/>
              <a:rect r="r" b="b" t="t" l="l"/>
              <a:pathLst>
                <a:path h="6791000" w="2771140">
                  <a:moveTo>
                    <a:pt x="0" y="0"/>
                  </a:moveTo>
                  <a:lnTo>
                    <a:pt x="0" y="5888030"/>
                  </a:lnTo>
                  <a:lnTo>
                    <a:pt x="1384300" y="6791000"/>
                  </a:lnTo>
                  <a:lnTo>
                    <a:pt x="2771140" y="588803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EDC20D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409261" y="-256978"/>
            <a:ext cx="11878739" cy="5286039"/>
          </a:xfrm>
          <a:custGeom>
            <a:avLst/>
            <a:gdLst/>
            <a:ahLst/>
            <a:cxnLst/>
            <a:rect r="r" b="b" t="t" l="l"/>
            <a:pathLst>
              <a:path h="5286039" w="11878739">
                <a:moveTo>
                  <a:pt x="0" y="0"/>
                </a:moveTo>
                <a:lnTo>
                  <a:pt x="11878739" y="0"/>
                </a:lnTo>
                <a:lnTo>
                  <a:pt x="11878739" y="5286038"/>
                </a:lnTo>
                <a:lnTo>
                  <a:pt x="0" y="5286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09261" y="4849320"/>
            <a:ext cx="11878739" cy="3697257"/>
          </a:xfrm>
          <a:custGeom>
            <a:avLst/>
            <a:gdLst/>
            <a:ahLst/>
            <a:cxnLst/>
            <a:rect r="r" b="b" t="t" l="l"/>
            <a:pathLst>
              <a:path h="3697257" w="11878739">
                <a:moveTo>
                  <a:pt x="0" y="0"/>
                </a:moveTo>
                <a:lnTo>
                  <a:pt x="11878739" y="0"/>
                </a:lnTo>
                <a:lnTo>
                  <a:pt x="11878739" y="3697257"/>
                </a:lnTo>
                <a:lnTo>
                  <a:pt x="0" y="3697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09261" y="8444796"/>
            <a:ext cx="11878739" cy="2093628"/>
          </a:xfrm>
          <a:custGeom>
            <a:avLst/>
            <a:gdLst/>
            <a:ahLst/>
            <a:cxnLst/>
            <a:rect r="r" b="b" t="t" l="l"/>
            <a:pathLst>
              <a:path h="2093628" w="11878739">
                <a:moveTo>
                  <a:pt x="0" y="0"/>
                </a:moveTo>
                <a:lnTo>
                  <a:pt x="11878739" y="0"/>
                </a:lnTo>
                <a:lnTo>
                  <a:pt x="11878739" y="2093628"/>
                </a:lnTo>
                <a:lnTo>
                  <a:pt x="0" y="2093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289897"/>
            <a:ext cx="3773851" cy="14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Главная страница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6745" y="3653202"/>
            <a:ext cx="5372493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Строение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886" y="4382501"/>
            <a:ext cx="4802342" cy="178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Приветсвенная часть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Спонсор сайта 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Хук страницы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Подвал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C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493541" y="3500173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3" y="0"/>
                </a:lnTo>
                <a:lnTo>
                  <a:pt x="3797603" y="3286654"/>
                </a:lnTo>
                <a:lnTo>
                  <a:pt x="0" y="328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6534" y="3661833"/>
            <a:ext cx="7401806" cy="27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4"/>
              </a:lnSpc>
            </a:pPr>
            <a:r>
              <a:rPr lang="en-US" sz="9499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Страница “About”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91112" y="4351866"/>
            <a:ext cx="2961064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4"/>
              </a:lnSpc>
            </a:pPr>
            <a:r>
              <a:rPr lang="en-US" b="true" sz="9499">
                <a:solidFill>
                  <a:srgbClr val="EDC20D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02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4005271" y="363087"/>
            <a:ext cx="5658447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3586931" y="-390978"/>
            <a:ext cx="5658447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40715" y="3623580"/>
            <a:ext cx="0" cy="676464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4135085" y="1099428"/>
            <a:ext cx="2310251" cy="1761851"/>
            <a:chOff x="0" y="0"/>
            <a:chExt cx="2771140" cy="21133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1140" cy="2113336"/>
            </a:xfrm>
            <a:custGeom>
              <a:avLst/>
              <a:gdLst/>
              <a:ahLst/>
              <a:cxnLst/>
              <a:rect r="r" b="b" t="t" l="l"/>
              <a:pathLst>
                <a:path h="2113336" w="2771140">
                  <a:moveTo>
                    <a:pt x="0" y="0"/>
                  </a:moveTo>
                  <a:lnTo>
                    <a:pt x="0" y="1210366"/>
                  </a:lnTo>
                  <a:lnTo>
                    <a:pt x="1384300" y="2113336"/>
                  </a:lnTo>
                  <a:lnTo>
                    <a:pt x="2771140" y="1210366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211238" y="-1349049"/>
            <a:ext cx="2717196" cy="6658804"/>
            <a:chOff x="0" y="0"/>
            <a:chExt cx="2771140" cy="679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1140" cy="6791000"/>
            </a:xfrm>
            <a:custGeom>
              <a:avLst/>
              <a:gdLst/>
              <a:ahLst/>
              <a:cxnLst/>
              <a:rect r="r" b="b" t="t" l="l"/>
              <a:pathLst>
                <a:path h="6791000" w="2771140">
                  <a:moveTo>
                    <a:pt x="0" y="0"/>
                  </a:moveTo>
                  <a:lnTo>
                    <a:pt x="0" y="5888030"/>
                  </a:lnTo>
                  <a:lnTo>
                    <a:pt x="1384300" y="6791000"/>
                  </a:lnTo>
                  <a:lnTo>
                    <a:pt x="2771140" y="588803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EDC20D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58685" y="5846"/>
            <a:ext cx="11029315" cy="5722855"/>
          </a:xfrm>
          <a:custGeom>
            <a:avLst/>
            <a:gdLst/>
            <a:ahLst/>
            <a:cxnLst/>
            <a:rect r="r" b="b" t="t" l="l"/>
            <a:pathLst>
              <a:path h="5722855" w="11029315">
                <a:moveTo>
                  <a:pt x="0" y="0"/>
                </a:moveTo>
                <a:lnTo>
                  <a:pt x="11029315" y="0"/>
                </a:lnTo>
                <a:lnTo>
                  <a:pt x="11029315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80" r="0" b="-878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58685" y="5728701"/>
            <a:ext cx="11029315" cy="5661681"/>
          </a:xfrm>
          <a:custGeom>
            <a:avLst/>
            <a:gdLst/>
            <a:ahLst/>
            <a:cxnLst/>
            <a:rect r="r" b="b" t="t" l="l"/>
            <a:pathLst>
              <a:path h="5661681" w="11029315">
                <a:moveTo>
                  <a:pt x="0" y="0"/>
                </a:moveTo>
                <a:lnTo>
                  <a:pt x="11029315" y="0"/>
                </a:lnTo>
                <a:lnTo>
                  <a:pt x="11029315" y="5661681"/>
                </a:lnTo>
                <a:lnTo>
                  <a:pt x="0" y="5661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250" r="0" b="-625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89897"/>
            <a:ext cx="3773851" cy="14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Страница “About”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6745" y="3653202"/>
            <a:ext cx="5372493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Строение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886" y="4382501"/>
            <a:ext cx="4802342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О проекте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Разработчик и преподаватель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Подвал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C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493541" y="3500173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3" y="0"/>
                </a:lnTo>
                <a:lnTo>
                  <a:pt x="3797603" y="3286654"/>
                </a:lnTo>
                <a:lnTo>
                  <a:pt x="0" y="328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6534" y="3661833"/>
            <a:ext cx="7401806" cy="27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4"/>
              </a:lnSpc>
            </a:pPr>
            <a:r>
              <a:rPr lang="en-US" sz="9499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Страница отзывов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91112" y="4351866"/>
            <a:ext cx="2961064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4"/>
              </a:lnSpc>
            </a:pPr>
            <a:r>
              <a:rPr lang="en-US" b="true" sz="9499">
                <a:solidFill>
                  <a:srgbClr val="EDC20D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03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4005271" y="363087"/>
            <a:ext cx="5658447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3586931" y="-390978"/>
            <a:ext cx="5658447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40715" y="3623580"/>
            <a:ext cx="0" cy="676464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4135085" y="1099428"/>
            <a:ext cx="2310251" cy="1761851"/>
            <a:chOff x="0" y="0"/>
            <a:chExt cx="2771140" cy="21133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1140" cy="2113336"/>
            </a:xfrm>
            <a:custGeom>
              <a:avLst/>
              <a:gdLst/>
              <a:ahLst/>
              <a:cxnLst/>
              <a:rect r="r" b="b" t="t" l="l"/>
              <a:pathLst>
                <a:path h="2113336" w="2771140">
                  <a:moveTo>
                    <a:pt x="0" y="0"/>
                  </a:moveTo>
                  <a:lnTo>
                    <a:pt x="0" y="1210366"/>
                  </a:lnTo>
                  <a:lnTo>
                    <a:pt x="1384300" y="2113336"/>
                  </a:lnTo>
                  <a:lnTo>
                    <a:pt x="2771140" y="1210366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211238" y="-1349049"/>
            <a:ext cx="2717196" cy="6658804"/>
            <a:chOff x="0" y="0"/>
            <a:chExt cx="2771140" cy="679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1140" cy="6791000"/>
            </a:xfrm>
            <a:custGeom>
              <a:avLst/>
              <a:gdLst/>
              <a:ahLst/>
              <a:cxnLst/>
              <a:rect r="r" b="b" t="t" l="l"/>
              <a:pathLst>
                <a:path h="6791000" w="2771140">
                  <a:moveTo>
                    <a:pt x="0" y="0"/>
                  </a:moveTo>
                  <a:lnTo>
                    <a:pt x="0" y="5888030"/>
                  </a:lnTo>
                  <a:lnTo>
                    <a:pt x="1384300" y="6791000"/>
                  </a:lnTo>
                  <a:lnTo>
                    <a:pt x="2771140" y="588803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EDC20D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190607" y="7439"/>
            <a:ext cx="11301259" cy="5721262"/>
          </a:xfrm>
          <a:custGeom>
            <a:avLst/>
            <a:gdLst/>
            <a:ahLst/>
            <a:cxnLst/>
            <a:rect r="r" b="b" t="t" l="l"/>
            <a:pathLst>
              <a:path h="5721262" w="11301259">
                <a:moveTo>
                  <a:pt x="0" y="0"/>
                </a:moveTo>
                <a:lnTo>
                  <a:pt x="11301259" y="0"/>
                </a:lnTo>
                <a:lnTo>
                  <a:pt x="11301259" y="5721262"/>
                </a:lnTo>
                <a:lnTo>
                  <a:pt x="0" y="5721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90607" y="5728701"/>
            <a:ext cx="11097393" cy="5713537"/>
          </a:xfrm>
          <a:custGeom>
            <a:avLst/>
            <a:gdLst/>
            <a:ahLst/>
            <a:cxnLst/>
            <a:rect r="r" b="b" t="t" l="l"/>
            <a:pathLst>
              <a:path h="5713537" w="11097393">
                <a:moveTo>
                  <a:pt x="0" y="0"/>
                </a:moveTo>
                <a:lnTo>
                  <a:pt x="11097393" y="0"/>
                </a:lnTo>
                <a:lnTo>
                  <a:pt x="11097393" y="5713537"/>
                </a:lnTo>
                <a:lnTo>
                  <a:pt x="0" y="5713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33" r="-1837" b="-983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89897"/>
            <a:ext cx="3773851" cy="14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Страница отзывов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6745" y="3653202"/>
            <a:ext cx="5372493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Строение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886" y="4382501"/>
            <a:ext cx="4802342" cy="178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Хук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Отзывы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Второй хук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Подвал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C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493541" y="3500173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3" y="0"/>
                </a:lnTo>
                <a:lnTo>
                  <a:pt x="3797603" y="3286654"/>
                </a:lnTo>
                <a:lnTo>
                  <a:pt x="0" y="328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6534" y="3661833"/>
            <a:ext cx="7401806" cy="27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4"/>
              </a:lnSpc>
            </a:pPr>
            <a:r>
              <a:rPr lang="en-US" sz="9499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Сраница формы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91112" y="4351866"/>
            <a:ext cx="2961064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4"/>
              </a:lnSpc>
            </a:pPr>
            <a:r>
              <a:rPr lang="en-US" b="true" sz="9499">
                <a:solidFill>
                  <a:srgbClr val="EDC20D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04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4005271" y="363087"/>
            <a:ext cx="5658447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3586931" y="-390978"/>
            <a:ext cx="5658447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40715" y="3623580"/>
            <a:ext cx="0" cy="676464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4135085" y="1099428"/>
            <a:ext cx="2310251" cy="1761851"/>
            <a:chOff x="0" y="0"/>
            <a:chExt cx="2771140" cy="21133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1140" cy="2113336"/>
            </a:xfrm>
            <a:custGeom>
              <a:avLst/>
              <a:gdLst/>
              <a:ahLst/>
              <a:cxnLst/>
              <a:rect r="r" b="b" t="t" l="l"/>
              <a:pathLst>
                <a:path h="2113336" w="2771140">
                  <a:moveTo>
                    <a:pt x="0" y="0"/>
                  </a:moveTo>
                  <a:lnTo>
                    <a:pt x="0" y="1210366"/>
                  </a:lnTo>
                  <a:lnTo>
                    <a:pt x="1384300" y="2113336"/>
                  </a:lnTo>
                  <a:lnTo>
                    <a:pt x="2771140" y="1210366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211238" y="-1349049"/>
            <a:ext cx="2717196" cy="6658804"/>
            <a:chOff x="0" y="0"/>
            <a:chExt cx="2771140" cy="679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1140" cy="6791000"/>
            </a:xfrm>
            <a:custGeom>
              <a:avLst/>
              <a:gdLst/>
              <a:ahLst/>
              <a:cxnLst/>
              <a:rect r="r" b="b" t="t" l="l"/>
              <a:pathLst>
                <a:path h="6791000" w="2771140">
                  <a:moveTo>
                    <a:pt x="0" y="0"/>
                  </a:moveTo>
                  <a:lnTo>
                    <a:pt x="0" y="5888030"/>
                  </a:lnTo>
                  <a:lnTo>
                    <a:pt x="1384300" y="6791000"/>
                  </a:lnTo>
                  <a:lnTo>
                    <a:pt x="2771140" y="588803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EDC20D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914086" y="7928"/>
            <a:ext cx="11301259" cy="5368098"/>
          </a:xfrm>
          <a:custGeom>
            <a:avLst/>
            <a:gdLst/>
            <a:ahLst/>
            <a:cxnLst/>
            <a:rect r="r" b="b" t="t" l="l"/>
            <a:pathLst>
              <a:path h="5368098" w="11301259">
                <a:moveTo>
                  <a:pt x="0" y="0"/>
                </a:moveTo>
                <a:lnTo>
                  <a:pt x="11301259" y="0"/>
                </a:lnTo>
                <a:lnTo>
                  <a:pt x="11301259" y="5368098"/>
                </a:lnTo>
                <a:lnTo>
                  <a:pt x="0" y="5368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14086" y="5322301"/>
            <a:ext cx="11301259" cy="5749515"/>
          </a:xfrm>
          <a:custGeom>
            <a:avLst/>
            <a:gdLst/>
            <a:ahLst/>
            <a:cxnLst/>
            <a:rect r="r" b="b" t="t" l="l"/>
            <a:pathLst>
              <a:path h="5749515" w="11301259">
                <a:moveTo>
                  <a:pt x="0" y="0"/>
                </a:moveTo>
                <a:lnTo>
                  <a:pt x="11301259" y="0"/>
                </a:lnTo>
                <a:lnTo>
                  <a:pt x="11301259" y="5749516"/>
                </a:lnTo>
                <a:lnTo>
                  <a:pt x="0" y="5749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89897"/>
            <a:ext cx="3773851" cy="14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8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Страница формы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6745" y="3653202"/>
            <a:ext cx="5372493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Строение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886" y="4382501"/>
            <a:ext cx="4802342" cy="178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Хук с акцией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Тарифы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Форма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Подвал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493541" y="3500173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3" y="0"/>
                </a:lnTo>
                <a:lnTo>
                  <a:pt x="3797603" y="3286654"/>
                </a:lnTo>
                <a:lnTo>
                  <a:pt x="0" y="328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6534" y="3661833"/>
            <a:ext cx="6967144" cy="415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4"/>
              </a:lnSpc>
            </a:pPr>
            <a:r>
              <a:rPr lang="en-US" sz="9499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А кому оно нужно?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49016" y="4351866"/>
            <a:ext cx="328665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4"/>
              </a:lnSpc>
            </a:pPr>
            <a:r>
              <a:rPr lang="en-US" b="true" sz="9499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?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4005271" y="363087"/>
            <a:ext cx="5658447" cy="0"/>
          </a:xfrm>
          <a:prstGeom prst="line">
            <a:avLst/>
          </a:prstGeom>
          <a:ln cap="flat" w="104775">
            <a:solidFill>
              <a:srgbClr val="EDC2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3586931" y="-390978"/>
            <a:ext cx="5658447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30041" y="988598"/>
            <a:ext cx="12326039" cy="8775603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83306" y="5784292"/>
            <a:ext cx="6195280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График составлен автором на основании проведенного исследования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3306" y="2714664"/>
            <a:ext cx="6415821" cy="220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9"/>
              </a:lnSpc>
            </a:pPr>
            <a:r>
              <a:rPr lang="en-US" sz="7521" b="true">
                <a:solidFill>
                  <a:srgbClr val="EDC20D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Целевая аудитория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10" t="-5206" r="-1084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033058" y="3926963"/>
            <a:ext cx="3528805" cy="3054021"/>
          </a:xfrm>
          <a:custGeom>
            <a:avLst/>
            <a:gdLst/>
            <a:ahLst/>
            <a:cxnLst/>
            <a:rect r="r" b="b" t="t" l="l"/>
            <a:pathLst>
              <a:path h="3054021" w="3528805">
                <a:moveTo>
                  <a:pt x="0" y="0"/>
                </a:moveTo>
                <a:lnTo>
                  <a:pt x="3528805" y="0"/>
                </a:lnTo>
                <a:lnTo>
                  <a:pt x="3528805" y="3054020"/>
                </a:lnTo>
                <a:lnTo>
                  <a:pt x="0" y="305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273716" y="3926963"/>
            <a:ext cx="3528805" cy="3054021"/>
          </a:xfrm>
          <a:custGeom>
            <a:avLst/>
            <a:gdLst/>
            <a:ahLst/>
            <a:cxnLst/>
            <a:rect r="r" b="b" t="t" l="l"/>
            <a:pathLst>
              <a:path h="3054021" w="3528805">
                <a:moveTo>
                  <a:pt x="0" y="0"/>
                </a:moveTo>
                <a:lnTo>
                  <a:pt x="3528805" y="0"/>
                </a:lnTo>
                <a:lnTo>
                  <a:pt x="3528805" y="3054020"/>
                </a:lnTo>
                <a:lnTo>
                  <a:pt x="0" y="305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514374" y="3926963"/>
            <a:ext cx="3528805" cy="3054021"/>
          </a:xfrm>
          <a:custGeom>
            <a:avLst/>
            <a:gdLst/>
            <a:ahLst/>
            <a:cxnLst/>
            <a:rect r="r" b="b" t="t" l="l"/>
            <a:pathLst>
              <a:path h="3054021" w="3528805">
                <a:moveTo>
                  <a:pt x="0" y="0"/>
                </a:moveTo>
                <a:lnTo>
                  <a:pt x="3528805" y="0"/>
                </a:lnTo>
                <a:lnTo>
                  <a:pt x="3528805" y="3054020"/>
                </a:lnTo>
                <a:lnTo>
                  <a:pt x="0" y="305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3755031" y="3926963"/>
            <a:ext cx="3528805" cy="3054021"/>
          </a:xfrm>
          <a:custGeom>
            <a:avLst/>
            <a:gdLst/>
            <a:ahLst/>
            <a:cxnLst/>
            <a:rect r="r" b="b" t="t" l="l"/>
            <a:pathLst>
              <a:path h="3054021" w="3528805">
                <a:moveTo>
                  <a:pt x="0" y="0"/>
                </a:moveTo>
                <a:lnTo>
                  <a:pt x="3528806" y="0"/>
                </a:lnTo>
                <a:lnTo>
                  <a:pt x="3528806" y="3054020"/>
                </a:lnTo>
                <a:lnTo>
                  <a:pt x="0" y="305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16219" y="4572473"/>
            <a:ext cx="1125115" cy="1763000"/>
          </a:xfrm>
          <a:custGeom>
            <a:avLst/>
            <a:gdLst/>
            <a:ahLst/>
            <a:cxnLst/>
            <a:rect r="r" b="b" t="t" l="l"/>
            <a:pathLst>
              <a:path h="1763000" w="1125115">
                <a:moveTo>
                  <a:pt x="0" y="0"/>
                </a:moveTo>
                <a:lnTo>
                  <a:pt x="1125115" y="0"/>
                </a:lnTo>
                <a:lnTo>
                  <a:pt x="1125115" y="1763000"/>
                </a:lnTo>
                <a:lnTo>
                  <a:pt x="0" y="176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50703" y="4526775"/>
            <a:ext cx="1537463" cy="1854396"/>
          </a:xfrm>
          <a:custGeom>
            <a:avLst/>
            <a:gdLst/>
            <a:ahLst/>
            <a:cxnLst/>
            <a:rect r="r" b="b" t="t" l="l"/>
            <a:pathLst>
              <a:path h="1854396" w="1537463">
                <a:moveTo>
                  <a:pt x="0" y="0"/>
                </a:moveTo>
                <a:lnTo>
                  <a:pt x="1537462" y="0"/>
                </a:lnTo>
                <a:lnTo>
                  <a:pt x="1537462" y="1854396"/>
                </a:lnTo>
                <a:lnTo>
                  <a:pt x="0" y="18543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84801" y="4687938"/>
            <a:ext cx="1625319" cy="1658488"/>
          </a:xfrm>
          <a:custGeom>
            <a:avLst/>
            <a:gdLst/>
            <a:ahLst/>
            <a:cxnLst/>
            <a:rect r="r" b="b" t="t" l="l"/>
            <a:pathLst>
              <a:path h="1658488" w="1625319">
                <a:moveTo>
                  <a:pt x="0" y="0"/>
                </a:moveTo>
                <a:lnTo>
                  <a:pt x="1625319" y="0"/>
                </a:lnTo>
                <a:lnTo>
                  <a:pt x="1625319" y="1658488"/>
                </a:lnTo>
                <a:lnTo>
                  <a:pt x="0" y="16584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6137168" y="4687938"/>
            <a:ext cx="1731025" cy="1715288"/>
          </a:xfrm>
          <a:custGeom>
            <a:avLst/>
            <a:gdLst/>
            <a:ahLst/>
            <a:cxnLst/>
            <a:rect r="r" b="b" t="t" l="l"/>
            <a:pathLst>
              <a:path h="1715288" w="1731025">
                <a:moveTo>
                  <a:pt x="1731024" y="0"/>
                </a:moveTo>
                <a:lnTo>
                  <a:pt x="0" y="0"/>
                </a:lnTo>
                <a:lnTo>
                  <a:pt x="0" y="1715288"/>
                </a:lnTo>
                <a:lnTo>
                  <a:pt x="1731024" y="1715288"/>
                </a:lnTo>
                <a:lnTo>
                  <a:pt x="1731024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46863" y="1066800"/>
            <a:ext cx="9730465" cy="110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521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Преимущества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5207" y="2694444"/>
            <a:ext cx="208450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EDC20D"/>
                </a:solidFill>
                <a:latin typeface="Carlito Bold"/>
                <a:ea typeface="Carlito Bold"/>
                <a:cs typeface="Carlito Bold"/>
                <a:sym typeface="Carlit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5865" y="2694444"/>
            <a:ext cx="208450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EDC20D"/>
                </a:solidFill>
                <a:latin typeface="Carlito Bold"/>
                <a:ea typeface="Carlito Bold"/>
                <a:cs typeface="Carlito Bold"/>
                <a:sym typeface="Carlito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36523" y="2694444"/>
            <a:ext cx="208450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EDC20D"/>
                </a:solidFill>
                <a:latin typeface="Carlito Bold"/>
                <a:ea typeface="Carlito Bold"/>
                <a:cs typeface="Carlito Bold"/>
                <a:sym typeface="Carlito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77181" y="2694444"/>
            <a:ext cx="208450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EDC20D"/>
                </a:solidFill>
                <a:latin typeface="Carlito Bold"/>
                <a:ea typeface="Carlito Bold"/>
                <a:cs typeface="Carlito Bold"/>
                <a:sym typeface="Carlito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9574" y="7482335"/>
            <a:ext cx="312489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Связь с новыми клиентами 24/7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0231" y="7469635"/>
            <a:ext cx="312489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Клиенты приходят сами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78109" y="7482335"/>
            <a:ext cx="2801335" cy="168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Четкая демонстрация инфоррмационного продукта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55528" y="7482335"/>
            <a:ext cx="252781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Фиксированные цены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C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319096">
            <a:off x="10352132" y="-2240601"/>
            <a:ext cx="7555109" cy="6538603"/>
          </a:xfrm>
          <a:custGeom>
            <a:avLst/>
            <a:gdLst/>
            <a:ahLst/>
            <a:cxnLst/>
            <a:rect r="r" b="b" t="t" l="l"/>
            <a:pathLst>
              <a:path h="6538603" w="7555109">
                <a:moveTo>
                  <a:pt x="0" y="0"/>
                </a:moveTo>
                <a:lnTo>
                  <a:pt x="7555109" y="0"/>
                </a:lnTo>
                <a:lnTo>
                  <a:pt x="7555109" y="6538602"/>
                </a:lnTo>
                <a:lnTo>
                  <a:pt x="0" y="6538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5832" y="1645601"/>
            <a:ext cx="8844129" cy="110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69"/>
              </a:lnSpc>
            </a:pPr>
            <a:r>
              <a:rPr lang="en-US" sz="739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Подводя итоги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3306" y="8177470"/>
            <a:ext cx="334799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+7 771 336 29 40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614575">
            <a:off x="15415844" y="3350640"/>
            <a:ext cx="7555109" cy="6538603"/>
          </a:xfrm>
          <a:custGeom>
            <a:avLst/>
            <a:gdLst/>
            <a:ahLst/>
            <a:cxnLst/>
            <a:rect r="r" b="b" t="t" l="l"/>
            <a:pathLst>
              <a:path h="6538603" w="7555109">
                <a:moveTo>
                  <a:pt x="0" y="0"/>
                </a:moveTo>
                <a:lnTo>
                  <a:pt x="7555108" y="0"/>
                </a:lnTo>
                <a:lnTo>
                  <a:pt x="7555108" y="6538603"/>
                </a:lnTo>
                <a:lnTo>
                  <a:pt x="0" y="6538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34916" y="8177470"/>
            <a:ext cx="536575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kirillkucner@gmail.com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33938" y="8177470"/>
            <a:ext cx="485852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@notdecl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103" y="3847363"/>
            <a:ext cx="14350661" cy="243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2261" indent="-516130" lvl="1">
              <a:lnSpc>
                <a:spcPts val="6215"/>
              </a:lnSpc>
              <a:buAutoNum type="arabicPeriod" startAt="1"/>
            </a:pPr>
            <a:r>
              <a:rPr lang="en-US" b="true" sz="478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Актуальность</a:t>
            </a:r>
          </a:p>
          <a:p>
            <a:pPr algn="l" marL="1032261" indent="-516130" lvl="1">
              <a:lnSpc>
                <a:spcPts val="6215"/>
              </a:lnSpc>
              <a:buAutoNum type="arabicPeriod" startAt="1"/>
            </a:pPr>
            <a:r>
              <a:rPr lang="en-US" b="true" sz="478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Удобство</a:t>
            </a:r>
          </a:p>
          <a:p>
            <a:pPr algn="l" marL="1032261" indent="-516130" lvl="1">
              <a:lnSpc>
                <a:spcPts val="6215"/>
              </a:lnSpc>
              <a:buAutoNum type="arabicPeriod" startAt="1"/>
            </a:pPr>
            <a:r>
              <a:rPr lang="en-US" b="true" sz="478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Технологичность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483306" y="7913943"/>
            <a:ext cx="16230600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5400000">
            <a:off x="15960818" y="533008"/>
            <a:ext cx="837359" cy="724696"/>
          </a:xfrm>
          <a:custGeom>
            <a:avLst/>
            <a:gdLst/>
            <a:ahLst/>
            <a:cxnLst/>
            <a:rect r="r" b="b" t="t" l="l"/>
            <a:pathLst>
              <a:path h="724696" w="837359">
                <a:moveTo>
                  <a:pt x="0" y="0"/>
                </a:moveTo>
                <a:lnTo>
                  <a:pt x="837359" y="0"/>
                </a:lnTo>
                <a:lnTo>
                  <a:pt x="837359" y="724696"/>
                </a:lnTo>
                <a:lnTo>
                  <a:pt x="0" y="724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576473" y="513970"/>
            <a:ext cx="881353" cy="762771"/>
          </a:xfrm>
          <a:custGeom>
            <a:avLst/>
            <a:gdLst/>
            <a:ahLst/>
            <a:cxnLst/>
            <a:rect r="r" b="b" t="t" l="l"/>
            <a:pathLst>
              <a:path h="762771" w="881353">
                <a:moveTo>
                  <a:pt x="0" y="0"/>
                </a:moveTo>
                <a:lnTo>
                  <a:pt x="881353" y="0"/>
                </a:lnTo>
                <a:lnTo>
                  <a:pt x="881353" y="762771"/>
                </a:lnTo>
                <a:lnTo>
                  <a:pt x="0" y="7627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6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493541" y="3500173"/>
            <a:ext cx="3797604" cy="3286653"/>
          </a:xfrm>
          <a:custGeom>
            <a:avLst/>
            <a:gdLst/>
            <a:ahLst/>
            <a:cxnLst/>
            <a:rect r="r" b="b" t="t" l="l"/>
            <a:pathLst>
              <a:path h="3286653" w="3797604">
                <a:moveTo>
                  <a:pt x="0" y="0"/>
                </a:moveTo>
                <a:lnTo>
                  <a:pt x="3797603" y="0"/>
                </a:lnTo>
                <a:lnTo>
                  <a:pt x="3797603" y="3286654"/>
                </a:lnTo>
                <a:lnTo>
                  <a:pt x="0" y="3286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6534" y="3661833"/>
            <a:ext cx="7525995" cy="27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4"/>
              </a:lnSpc>
            </a:pPr>
            <a:r>
              <a:rPr lang="en-US" sz="9499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Спасибо за внимание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49016" y="4351866"/>
            <a:ext cx="328665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4"/>
              </a:lnSpc>
            </a:pPr>
            <a:r>
              <a:rPr lang="en-US" b="true" sz="9499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!</a:t>
            </a:r>
          </a:p>
        </p:txBody>
      </p:sp>
      <p:sp>
        <p:nvSpPr>
          <p:cNvPr name="AutoShape 5" id="5"/>
          <p:cNvSpPr/>
          <p:nvPr/>
        </p:nvSpPr>
        <p:spPr>
          <a:xfrm rot="-5400000">
            <a:off x="4005271" y="363087"/>
            <a:ext cx="5658447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3586931" y="-390978"/>
            <a:ext cx="5658447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DAHHgEQBWIg</dc:identifier>
  <dcterms:modified xsi:type="dcterms:W3CDTF">2011-08-01T06:04:30Z</dcterms:modified>
  <cp:revision>1</cp:revision>
  <dc:title>Кирилл Куцнер</dc:title>
</cp:coreProperties>
</file>